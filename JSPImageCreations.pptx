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D5ED"/>
    <a:srgbClr val="0B1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30" d="100"/>
          <a:sy n="130" d="100"/>
        </p:scale>
        <p:origin x="-144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E2D7-DA51-903C-E06D-BC51A1811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FE8D7-3AD1-AE28-FB48-7701ADA25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FC495-E1BE-D208-B44A-6C20B88D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5787-1D93-4DF7-982C-07EF21316A9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2454C-2369-4419-F395-5820A21A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1C99F-BC6A-1B2C-3B0E-A246ADD3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C0E0-6630-476C-834A-FC45559A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24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3826-FB54-D63E-A3EC-D1AB74ED3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0C56E-CD26-B5E8-8B88-C472DB348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109ED-08B0-E5DD-4EBD-289739009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5787-1D93-4DF7-982C-07EF21316A9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9A786-AA1C-1DD0-10F1-848386067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B4EF0-5E54-C827-5677-85DF88161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C0E0-6630-476C-834A-FC45559A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0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B41A-0625-345C-0D2C-186C97AE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815E8-1B5B-10CF-B83E-1FA7F270A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33831-D571-26CA-5A3F-507BD8E7A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5787-1D93-4DF7-982C-07EF21316A9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14B27-F2D3-D258-326D-C61ECF592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DC695-D69D-BC43-20B4-8B726F05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C0E0-6630-476C-834A-FC45559A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3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76D0-9792-FD07-A4C0-20E583C9D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D002E-75D8-07B4-6D5A-A6D5B72A3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D4727-102C-94EA-4C51-E6DEA5B8A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38325-6EDA-89DB-25D6-78813322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5787-1D93-4DF7-982C-07EF21316A9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BD438-2783-1CD9-B665-D97EC873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65BA4-E54D-9D91-61AC-789F5E1A2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C0E0-6630-476C-834A-FC45559A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22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8269-8A27-D685-3973-62472FF1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BD288-7CBF-CF7A-D2F9-C425A3D3A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C97C7-3AE0-4B52-C062-8D2A9FD3F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716658-02A9-B7E0-55DC-DE3330373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BC3E8-3973-9A7B-2475-B00FB5A0F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087C9-9545-14EF-4552-F58C2EA82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5787-1D93-4DF7-982C-07EF21316A9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D1FEF-533F-523F-9942-76BF1DC5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74ADEA-B02F-FD72-B49D-CAFA755D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C0E0-6630-476C-834A-FC45559A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9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44900-2D4D-147C-536C-F1C8CFFCD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1884C-AECA-B911-7F01-8A41B8574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5787-1D93-4DF7-982C-07EF21316A9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EAF6B-3A0F-8776-411A-8D2B6BE0B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5746D-4FB2-69A8-320C-BAAFEA77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C0E0-6630-476C-834A-FC45559A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58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57D44-2770-9B3D-E4AB-A9B67EEB4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5787-1D93-4DF7-982C-07EF21316A9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1CB520-4E42-CF6B-0208-B4ACAFAEE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B50F9-5D03-788A-61B2-B8C06824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C0E0-6630-476C-834A-FC45559A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29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2742-30A8-B31A-333A-92EE090D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FAB0D-2E81-35F0-BAA8-682C5A169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C4DAD-A572-CB49-D92B-5943855A4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70D29-F6D1-ACE5-2815-4B63489C3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5787-1D93-4DF7-982C-07EF21316A9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BEB1E-CD33-15FA-38ED-DBD73569A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B5D5-FD11-9326-B2AA-0FEA52D6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C0E0-6630-476C-834A-FC45559A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6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720CE-A8C7-9E4E-5EA3-BDB49587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C862D7-04D3-B0DA-C60D-4ECE856597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52D86-46F3-E9ED-7588-86B7864BB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6AEC6-79E1-369D-1286-8D7750D48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5787-1D93-4DF7-982C-07EF21316A9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2253D-73E8-74A5-2BD9-2F453AED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E0073-EB46-1567-3905-E57EEE64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C0E0-6630-476C-834A-FC45559A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52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35A5D-8442-6C87-A7BC-079EAD719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0C480-93E9-C21D-E5BE-26771A430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A4EBC-5920-C6CF-1133-9C5F79FA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5787-1D93-4DF7-982C-07EF21316A9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9945F-0861-44F0-83E3-22CFECB31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8F4BB-63A7-74C7-7CA8-57A1AFF7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C0E0-6630-476C-834A-FC45559A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73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9C3391-868B-29C1-3A4D-096A1CF2E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E2359-F37B-6A57-FDE2-72AC72CFB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7DB62-323B-A543-16B5-05E3B5DC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5787-1D93-4DF7-982C-07EF21316A9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43B68-62C9-ED10-752D-6CD319C66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11B4F-927B-9652-6929-7C2B25B84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0C0E0-6630-476C-834A-FC45559A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86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8222D-3070-D9B2-C77A-C065A7C2D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44884-6DF4-C789-9ED5-E3D81920E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C2E68-48E3-EE96-AEFD-ADDC28412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15787-1D93-4DF7-982C-07EF21316A90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5AEB2-2756-8DA2-D5A6-F534D245C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2A039-4EFE-3270-93FC-0BDBC9381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30C0E0-6630-476C-834A-FC45559A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83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BD4C92FE-2C98-7734-A8EB-5063336358BE}"/>
              </a:ext>
            </a:extLst>
          </p:cNvPr>
          <p:cNvGrpSpPr/>
          <p:nvPr/>
        </p:nvGrpSpPr>
        <p:grpSpPr>
          <a:xfrm>
            <a:off x="4095749" y="1362075"/>
            <a:ext cx="2971800" cy="4114800"/>
            <a:chOff x="4095749" y="1362075"/>
            <a:chExt cx="2971800" cy="4114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9C9ED93-0424-FBA4-EB43-DD028F261916}"/>
                </a:ext>
              </a:extLst>
            </p:cNvPr>
            <p:cNvSpPr/>
            <p:nvPr/>
          </p:nvSpPr>
          <p:spPr>
            <a:xfrm>
              <a:off x="4095749" y="1362075"/>
              <a:ext cx="2971800" cy="4114800"/>
            </a:xfrm>
            <a:prstGeom prst="rect">
              <a:avLst/>
            </a:prstGeom>
            <a:solidFill>
              <a:srgbClr val="0B1A33"/>
            </a:solidFill>
            <a:ln w="25400">
              <a:solidFill>
                <a:srgbClr val="BED5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9921F17-985E-6558-50C3-4D455339C76B}"/>
                </a:ext>
              </a:extLst>
            </p:cNvPr>
            <p:cNvCxnSpPr>
              <a:cxnSpLocks/>
            </p:cNvCxnSpPr>
            <p:nvPr/>
          </p:nvCxnSpPr>
          <p:spPr>
            <a:xfrm>
              <a:off x="4214811" y="2800350"/>
              <a:ext cx="2743200" cy="0"/>
            </a:xfrm>
            <a:prstGeom prst="line">
              <a:avLst/>
            </a:prstGeom>
            <a:ln>
              <a:solidFill>
                <a:srgbClr val="BED5ED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858972-AA29-E192-8A40-6EC69FA610D7}"/>
                </a:ext>
              </a:extLst>
            </p:cNvPr>
            <p:cNvSpPr txBox="1"/>
            <p:nvPr/>
          </p:nvSpPr>
          <p:spPr>
            <a:xfrm>
              <a:off x="4210049" y="2752724"/>
              <a:ext cx="2743200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800" dirty="0"/>
            </a:p>
            <a:p>
              <a:r>
                <a:rPr lang="en-US" sz="500" dirty="0">
                  <a:solidFill>
                    <a:srgbClr val="FFC000"/>
                  </a:solidFill>
                  <a:latin typeface="Aptos" panose="020B0004020202020204" pitchFamily="34" charset="0"/>
                </a:rPr>
                <a:t>Editor: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Robert Mather,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University of Central Oklahoma</a:t>
              </a:r>
              <a:endParaRPr lang="en-US" sz="5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  <a:p>
              <a:endParaRPr lang="en-US" sz="5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  <a:p>
              <a:r>
                <a:rPr lang="en-US" sz="500" dirty="0">
                  <a:solidFill>
                    <a:srgbClr val="FFC000"/>
                  </a:solidFill>
                  <a:latin typeface="Aptos" panose="020B0004020202020204" pitchFamily="34" charset="0"/>
                </a:rPr>
                <a:t>Consulting Editors: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Erin Buchanan,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Missouri State University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Mario Casa de Calvo,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University of North Texas at Dallas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Jacquline Cottle,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Roger Williams University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Nora Gayzur,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University of Central Oklahoma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Janelle Grellner,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University of Central Oklahoma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Ashalee Hurst,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Northeastern State University - Broken Bow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Kurt Jefferson,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Spaulding University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Tephillah Jeyaraj-Powell,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University of Central Oklahoma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Caleb Lack,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University of Central Oklahoma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Tammy Lowery </a:t>
              </a:r>
              <a:r>
                <a:rPr lang="en-US" sz="500" dirty="0" err="1">
                  <a:solidFill>
                    <a:schemeClr val="bg1"/>
                  </a:solidFill>
                  <a:latin typeface="Aptos" panose="020B0004020202020204" pitchFamily="34" charset="0"/>
                </a:rPr>
                <a:t>Zacchilli</a:t>
              </a:r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Saint Leo University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Angelina </a:t>
              </a:r>
              <a:r>
                <a:rPr lang="en-US" sz="500" dirty="0" err="1">
                  <a:solidFill>
                    <a:schemeClr val="bg1"/>
                  </a:solidFill>
                  <a:latin typeface="Aptos" panose="020B0004020202020204" pitchFamily="34" charset="0"/>
                </a:rPr>
                <a:t>MacKewn</a:t>
              </a:r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University of  Tennessee at Martin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​Stuart McKelvie,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Bishop's University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Alicia McLean,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University of Central Oklahoma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Monica Munoz,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Texas A &amp; M University, International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Ian Norris,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Berea College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Lindsey Osterman,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Roanoke College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April Phillips,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Northeastern State University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Brandon Randolph-Seng,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Texas A &amp; M, Commerce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Jeff Seger,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Cameron University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Nina Silander,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North Florida/South Georgia Veterans Health System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Anand </a:t>
              </a:r>
              <a:r>
                <a:rPr lang="en-US" sz="500" dirty="0" err="1">
                  <a:solidFill>
                    <a:schemeClr val="bg1"/>
                  </a:solidFill>
                  <a:latin typeface="Aptos" panose="020B0004020202020204" pitchFamily="34" charset="0"/>
                </a:rPr>
                <a:t>Tharanathan</a:t>
              </a:r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Angie's List, Inc.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Mickie Vanhoy,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University of Central Oklahoma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Chris Walker,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University of Oklahoma</a:t>
              </a:r>
            </a:p>
            <a:p>
              <a:r>
                <a:rPr lang="en-US" sz="500" dirty="0">
                  <a:solidFill>
                    <a:schemeClr val="bg1"/>
                  </a:solidFill>
                  <a:latin typeface="Aptos" panose="020B0004020202020204" pitchFamily="34" charset="0"/>
                </a:rPr>
                <a:t>Virgil Zeigler-Hill, </a:t>
              </a:r>
              <a:r>
                <a:rPr lang="en-US" sz="500" i="1" dirty="0">
                  <a:solidFill>
                    <a:schemeClr val="bg1"/>
                  </a:solidFill>
                  <a:latin typeface="Aptos" panose="020B0004020202020204" pitchFamily="34" charset="0"/>
                </a:rPr>
                <a:t>Oakland University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DA3A586-8DC0-3FF8-AD94-9FF6775AA78D}"/>
                </a:ext>
              </a:extLst>
            </p:cNvPr>
            <p:cNvSpPr txBox="1"/>
            <p:nvPr/>
          </p:nvSpPr>
          <p:spPr>
            <a:xfrm>
              <a:off x="5593890" y="1575179"/>
              <a:ext cx="1361741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solidFill>
                    <a:schemeClr val="bg1"/>
                  </a:solidFill>
                  <a:latin typeface="Chamberi Super Display" panose="020F0502020204030204" pitchFamily="18" charset="0"/>
                </a:rPr>
                <a:t>Journal of</a:t>
              </a:r>
            </a:p>
            <a:p>
              <a:r>
                <a:rPr lang="en-US" sz="1900" dirty="0">
                  <a:solidFill>
                    <a:schemeClr val="bg1"/>
                  </a:solidFill>
                  <a:latin typeface="Chamberi Super Display" panose="020F0502020204030204" pitchFamily="18" charset="0"/>
                </a:rPr>
                <a:t>Scientific</a:t>
              </a:r>
            </a:p>
            <a:p>
              <a:r>
                <a:rPr lang="en-US" sz="1900" dirty="0">
                  <a:solidFill>
                    <a:schemeClr val="bg1"/>
                  </a:solidFill>
                  <a:latin typeface="Chamberi Super Display" panose="020F0502020204030204" pitchFamily="18" charset="0"/>
                </a:rPr>
                <a:t>Psychology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A0DEF58-9011-1F92-C41A-30659B03935A}"/>
                </a:ext>
              </a:extLst>
            </p:cNvPr>
            <p:cNvCxnSpPr>
              <a:cxnSpLocks/>
            </p:cNvCxnSpPr>
            <p:nvPr/>
          </p:nvCxnSpPr>
          <p:spPr>
            <a:xfrm>
              <a:off x="4210049" y="5190991"/>
              <a:ext cx="2743200" cy="0"/>
            </a:xfrm>
            <a:prstGeom prst="line">
              <a:avLst/>
            </a:prstGeom>
            <a:ln>
              <a:solidFill>
                <a:srgbClr val="BED5ED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0BC4331-EDD5-A34E-0C6B-F4A88A135442}"/>
                </a:ext>
              </a:extLst>
            </p:cNvPr>
            <p:cNvGrpSpPr/>
            <p:nvPr/>
          </p:nvGrpSpPr>
          <p:grpSpPr>
            <a:xfrm>
              <a:off x="4298489" y="1519238"/>
              <a:ext cx="1295401" cy="1123949"/>
              <a:chOff x="1127637" y="419890"/>
              <a:chExt cx="1295401" cy="1123949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49004534-D668-71E8-8472-8FC60B40FFBB}"/>
                  </a:ext>
                </a:extLst>
              </p:cNvPr>
              <p:cNvGrpSpPr/>
              <p:nvPr/>
            </p:nvGrpSpPr>
            <p:grpSpPr>
              <a:xfrm>
                <a:off x="1127637" y="419890"/>
                <a:ext cx="1295401" cy="1123949"/>
                <a:chOff x="1127637" y="419890"/>
                <a:chExt cx="1295401" cy="1123949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943720D8-3985-9E80-2733-2704812DA0E2}"/>
                    </a:ext>
                  </a:extLst>
                </p:cNvPr>
                <p:cNvSpPr/>
                <p:nvPr/>
              </p:nvSpPr>
              <p:spPr>
                <a:xfrm>
                  <a:off x="1127637" y="419890"/>
                  <a:ext cx="1295401" cy="1123949"/>
                </a:xfrm>
                <a:prstGeom prst="rect">
                  <a:avLst/>
                </a:prstGeom>
                <a:noFill/>
                <a:ln>
                  <a:solidFill>
                    <a:srgbClr val="BED5E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7B24D2DF-F072-9F0B-1F54-FE3A3A9B04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55812" y="560382"/>
                  <a:ext cx="0" cy="842962"/>
                </a:xfrm>
                <a:prstGeom prst="line">
                  <a:avLst/>
                </a:prstGeom>
                <a:ln>
                  <a:solidFill>
                    <a:srgbClr val="BED5ED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91F804D0-BB41-5923-9411-4FA5ABEE65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01409" y="761589"/>
                  <a:ext cx="480632" cy="440545"/>
                </a:xfrm>
                <a:prstGeom prst="rect">
                  <a:avLst/>
                </a:prstGeom>
              </p:spPr>
            </p:pic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240C3E43-727C-AF8D-613E-5E36897FA7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3856" y="717921"/>
                <a:ext cx="591138" cy="52788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96256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186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Chamberi Super Display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Randell</dc:creator>
  <cp:lastModifiedBy>Adam Randell</cp:lastModifiedBy>
  <cp:revision>1</cp:revision>
  <dcterms:created xsi:type="dcterms:W3CDTF">2026-09-04T03:14:09Z</dcterms:created>
  <dcterms:modified xsi:type="dcterms:W3CDTF">2026-09-04T04:33:14Z</dcterms:modified>
</cp:coreProperties>
</file>